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287c1c96da1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287c1c96da1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287c1c96da1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287c1c96da1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28c8edd811a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28c8edd811a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a14de28b67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2a14de28b67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29051a73c5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29051a73c5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29051a73c5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29051a73c5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90ad48151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290ad48151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935d86cefa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2935d86cefa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294336e933a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294336e933a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959019d9d5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959019d9d5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a373dc9a35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2a373dc9a35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297d95fcf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297d95fcf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9c3beff8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29c3beff8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a057f0f81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2a057f0f81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9d5362b3a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6" name="Google Shape;176;g29d5362b3a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2a14de28b67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2" name="Google Shape;182;g2a14de28b67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2a14de28b6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 name="Google Shape;190;g2a14de28b6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2a373dc9a3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 name="Google Shape;196;g2a373dc9a3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g2a2916fb7ea_1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2" name="Google Shape;202;g2a2916fb7ea_1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2a057f0f81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2a057f0f81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2a14de28b67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2a14de28b67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9" name="Shape 219"/>
        <p:cNvGrpSpPr/>
        <p:nvPr/>
      </p:nvGrpSpPr>
      <p:grpSpPr>
        <a:xfrm>
          <a:off x="0" y="0"/>
          <a:ext cx="0" cy="0"/>
          <a:chOff x="0" y="0"/>
          <a:chExt cx="0" cy="0"/>
        </a:xfrm>
      </p:grpSpPr>
      <p:sp>
        <p:nvSpPr>
          <p:cNvPr id="220" name="Google Shape;220;g2a057f0f81a_0_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 name="Google Shape;221;g2a057f0f81a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2a373dc9a35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2a373dc9a35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youtube.com/watch?v=kw7VAspbBmY" TargetMode="Externa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youtube.com/watch?v=Op4BkDxByRA" TargetMode="External"/><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1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1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solidFill>
                  <a:srgbClr val="00FF00"/>
                </a:solidFill>
              </a:rPr>
              <a:t>Rocket Construction Project</a:t>
            </a:r>
            <a:endParaRPr>
              <a:solidFill>
                <a:srgbClr val="00FF00"/>
              </a:solidFill>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solidFill>
                  <a:srgbClr val="00FF00"/>
                </a:solidFill>
              </a:rPr>
              <a:t>By Cole Harmaty</a:t>
            </a:r>
            <a:endParaRPr>
              <a:solidFill>
                <a:srgbClr val="00FF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1524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1: Cutting Out The Body</a:t>
            </a:r>
            <a:endParaRPr>
              <a:solidFill>
                <a:srgbClr val="00FF00"/>
              </a:solidFill>
            </a:endParaRPr>
          </a:p>
        </p:txBody>
      </p:sp>
      <p:sp>
        <p:nvSpPr>
          <p:cNvPr id="61" name="Google Shape;61;p14"/>
          <p:cNvSpPr txBox="1"/>
          <p:nvPr>
            <p:ph idx="1" type="body"/>
          </p:nvPr>
        </p:nvSpPr>
        <p:spPr>
          <a:xfrm>
            <a:off x="311700" y="771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I started off by grabbing a </a:t>
            </a:r>
            <a:r>
              <a:rPr lang="en">
                <a:solidFill>
                  <a:srgbClr val="00FF00"/>
                </a:solidFill>
              </a:rPr>
              <a:t>piece</a:t>
            </a:r>
            <a:r>
              <a:rPr lang="en">
                <a:solidFill>
                  <a:srgbClr val="00FF00"/>
                </a:solidFill>
              </a:rPr>
              <a:t> of paper and running tape from shortside to shortside. </a:t>
            </a:r>
            <a:r>
              <a:rPr lang="en">
                <a:solidFill>
                  <a:srgbClr val="00FF00"/>
                </a:solidFill>
              </a:rPr>
              <a:t>Eventually</a:t>
            </a:r>
            <a:r>
              <a:rPr lang="en">
                <a:solidFill>
                  <a:srgbClr val="00FF00"/>
                </a:solidFill>
              </a:rPr>
              <a:t> I covered the paper. Then, I cut off the excess tape and wrote my name on the paper.</a:t>
            </a:r>
            <a:endParaRPr>
              <a:solidFill>
                <a:srgbClr val="00FF00"/>
              </a:solidFill>
            </a:endParaRPr>
          </a:p>
        </p:txBody>
      </p:sp>
      <p:pic>
        <p:nvPicPr>
          <p:cNvPr id="62" name="Google Shape;62;p14"/>
          <p:cNvPicPr preferRelativeResize="0"/>
          <p:nvPr/>
        </p:nvPicPr>
        <p:blipFill>
          <a:blip r:embed="rId3">
            <a:alphaModFix/>
          </a:blip>
          <a:stretch>
            <a:fillRect/>
          </a:stretch>
        </p:blipFill>
        <p:spPr>
          <a:xfrm>
            <a:off x="1037800" y="2107588"/>
            <a:ext cx="3314700" cy="2486025"/>
          </a:xfrm>
          <a:prstGeom prst="rect">
            <a:avLst/>
          </a:prstGeom>
          <a:noFill/>
          <a:ln>
            <a:noFill/>
          </a:ln>
        </p:spPr>
      </p:pic>
      <p:pic>
        <p:nvPicPr>
          <p:cNvPr id="63" name="Google Shape;63;p14"/>
          <p:cNvPicPr preferRelativeResize="0"/>
          <p:nvPr/>
        </p:nvPicPr>
        <p:blipFill>
          <a:blip r:embed="rId4">
            <a:alphaModFix/>
          </a:blip>
          <a:stretch>
            <a:fillRect/>
          </a:stretch>
        </p:blipFill>
        <p:spPr>
          <a:xfrm>
            <a:off x="5242875" y="2093013"/>
            <a:ext cx="3314700" cy="2486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1005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2: Taping the Tube</a:t>
            </a:r>
            <a:endParaRPr>
              <a:solidFill>
                <a:srgbClr val="00FF00"/>
              </a:solidFill>
            </a:endParaRPr>
          </a:p>
        </p:txBody>
      </p:sp>
      <p:sp>
        <p:nvSpPr>
          <p:cNvPr id="69" name="Google Shape;69;p15"/>
          <p:cNvSpPr txBox="1"/>
          <p:nvPr>
            <p:ph idx="1" type="body"/>
          </p:nvPr>
        </p:nvSpPr>
        <p:spPr>
          <a:xfrm>
            <a:off x="311700" y="613825"/>
            <a:ext cx="3295200" cy="3416400"/>
          </a:xfrm>
          <a:prstGeom prst="rect">
            <a:avLst/>
          </a:prstGeom>
        </p:spPr>
        <p:txBody>
          <a:bodyPr anchorCtr="0" anchor="t" bIns="91425" lIns="91425" spcFirstLastPara="1" rIns="91425" wrap="square" tIns="91425">
            <a:noAutofit/>
          </a:bodyPr>
          <a:lstStyle/>
          <a:p>
            <a:pPr indent="0" lvl="0" marL="0" rtl="0" algn="l">
              <a:lnSpc>
                <a:spcPct val="105000"/>
              </a:lnSpc>
              <a:spcBef>
                <a:spcPts val="0"/>
              </a:spcBef>
              <a:spcAft>
                <a:spcPts val="1200"/>
              </a:spcAft>
              <a:buSzPts val="688"/>
              <a:buNone/>
            </a:pPr>
            <a:r>
              <a:rPr lang="en" sz="1825">
                <a:solidFill>
                  <a:srgbClr val="00FF00"/>
                </a:solidFill>
              </a:rPr>
              <a:t>I rolled the side with tape on it around the tube, starting from the long edge and rolling the paper around the tube until the two long edges met, and then I taped them together. I then started by running strips of tape </a:t>
            </a:r>
            <a:r>
              <a:rPr lang="en" sz="1825">
                <a:solidFill>
                  <a:srgbClr val="00FF00"/>
                </a:solidFill>
              </a:rPr>
              <a:t>parallel</a:t>
            </a:r>
            <a:r>
              <a:rPr lang="en" sz="1825">
                <a:solidFill>
                  <a:srgbClr val="00FF00"/>
                </a:solidFill>
              </a:rPr>
              <a:t> to the tube, so they didn’t overlap. I then began to wrap short strips of tape around the tube, so there was no overlap. I continued until I had wrapped 7 layers of tape total around the tube.</a:t>
            </a:r>
            <a:endParaRPr sz="1825">
              <a:solidFill>
                <a:srgbClr val="00FF00"/>
              </a:solidFill>
            </a:endParaRPr>
          </a:p>
        </p:txBody>
      </p:sp>
      <p:pic>
        <p:nvPicPr>
          <p:cNvPr id="70" name="Google Shape;70;p15"/>
          <p:cNvPicPr preferRelativeResize="0"/>
          <p:nvPr/>
        </p:nvPicPr>
        <p:blipFill>
          <a:blip r:embed="rId3">
            <a:alphaModFix/>
          </a:blip>
          <a:stretch>
            <a:fillRect/>
          </a:stretch>
        </p:blipFill>
        <p:spPr>
          <a:xfrm>
            <a:off x="3606775" y="898708"/>
            <a:ext cx="5470550" cy="410292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1836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The Dial Cipher</a:t>
            </a:r>
            <a:endParaRPr>
              <a:solidFill>
                <a:srgbClr val="00FF00"/>
              </a:solidFill>
            </a:endParaRPr>
          </a:p>
        </p:txBody>
      </p:sp>
      <p:sp>
        <p:nvSpPr>
          <p:cNvPr id="76" name="Google Shape;76;p16"/>
          <p:cNvSpPr txBox="1"/>
          <p:nvPr>
            <p:ph idx="1" type="body"/>
          </p:nvPr>
        </p:nvSpPr>
        <p:spPr>
          <a:xfrm>
            <a:off x="72875" y="756375"/>
            <a:ext cx="9071100" cy="34164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None/>
            </a:pPr>
            <a:r>
              <a:rPr lang="en">
                <a:solidFill>
                  <a:srgbClr val="00FF00"/>
                </a:solidFill>
              </a:rPr>
              <a:t>Q.  </a:t>
            </a:r>
            <a:r>
              <a:rPr lang="en">
                <a:solidFill>
                  <a:srgbClr val="00FF00"/>
                </a:solidFill>
              </a:rPr>
              <a:t>Why is calibrating measuring tools important?</a:t>
            </a:r>
            <a:endParaRPr>
              <a:solidFill>
                <a:srgbClr val="00FF00"/>
              </a:solidFill>
            </a:endParaRPr>
          </a:p>
          <a:p>
            <a:pPr indent="-342900" lvl="0" marL="457200" rtl="0" algn="l">
              <a:lnSpc>
                <a:spcPct val="100000"/>
              </a:lnSpc>
              <a:spcBef>
                <a:spcPts val="0"/>
              </a:spcBef>
              <a:spcAft>
                <a:spcPts val="0"/>
              </a:spcAft>
              <a:buClr>
                <a:srgbClr val="00FF00"/>
              </a:buClr>
              <a:buSzPts val="1800"/>
              <a:buAutoNum type="alphaUcPeriod"/>
            </a:pPr>
            <a:r>
              <a:rPr lang="en">
                <a:solidFill>
                  <a:srgbClr val="00FF00"/>
                </a:solidFill>
              </a:rPr>
              <a:t>Calibrating ones measurement tools is important because otherwise, you get inaccurate answers. </a:t>
            </a:r>
            <a:endParaRPr>
              <a:solidFill>
                <a:srgbClr val="00FF00"/>
              </a:solidFill>
            </a:endParaRPr>
          </a:p>
          <a:p>
            <a:pPr indent="0" lvl="0" marL="0" rtl="0" algn="l">
              <a:spcBef>
                <a:spcPts val="0"/>
              </a:spcBef>
              <a:spcAft>
                <a:spcPts val="0"/>
              </a:spcAft>
              <a:buNone/>
            </a:pPr>
            <a:r>
              <a:rPr lang="en" sz="1700">
                <a:solidFill>
                  <a:srgbClr val="00FF00"/>
                </a:solidFill>
              </a:rPr>
              <a:t>Q. </a:t>
            </a:r>
            <a:r>
              <a:rPr lang="en">
                <a:solidFill>
                  <a:srgbClr val="00FF00"/>
                </a:solidFill>
              </a:rPr>
              <a:t>Are there other places on the caliper to use for measurements?</a:t>
            </a:r>
            <a:endParaRPr>
              <a:solidFill>
                <a:srgbClr val="00FF00"/>
              </a:solidFill>
            </a:endParaRPr>
          </a:p>
          <a:p>
            <a:pPr indent="-342900" lvl="0" marL="457200" rtl="0" algn="l">
              <a:lnSpc>
                <a:spcPct val="100000"/>
              </a:lnSpc>
              <a:spcBef>
                <a:spcPts val="1200"/>
              </a:spcBef>
              <a:spcAft>
                <a:spcPts val="0"/>
              </a:spcAft>
              <a:buClr>
                <a:srgbClr val="00FF00"/>
              </a:buClr>
              <a:buSzPts val="1800"/>
              <a:buAutoNum type="alphaUcPeriod"/>
            </a:pPr>
            <a:r>
              <a:rPr lang="en">
                <a:solidFill>
                  <a:srgbClr val="00FF00"/>
                </a:solidFill>
              </a:rPr>
              <a:t>The outer head(labeled 1) is helpful when measuring the inside diameter of something because you slide the jaws open until you can’t anymore. The rod, which comes out of (2) is useful for measuring the depth of something because you just slide the cipher open until the rod at the bottom of the caliper hits the bottom of whatever you are measuring, then you read the number on the screen.</a:t>
            </a:r>
            <a:endParaRPr>
              <a:solidFill>
                <a:srgbClr val="00FF00"/>
              </a:solidFill>
            </a:endParaRPr>
          </a:p>
        </p:txBody>
      </p:sp>
      <p:pic>
        <p:nvPicPr>
          <p:cNvPr id="77" name="Google Shape;77;p16"/>
          <p:cNvPicPr preferRelativeResize="0"/>
          <p:nvPr/>
        </p:nvPicPr>
        <p:blipFill rotWithShape="1">
          <a:blip r:embed="rId3">
            <a:alphaModFix/>
          </a:blip>
          <a:srcRect b="0" l="23014" r="6129" t="65861"/>
          <a:stretch/>
        </p:blipFill>
        <p:spPr>
          <a:xfrm>
            <a:off x="72875" y="3721846"/>
            <a:ext cx="3817600" cy="1379550"/>
          </a:xfrm>
          <a:prstGeom prst="rect">
            <a:avLst/>
          </a:prstGeom>
          <a:noFill/>
          <a:ln>
            <a:noFill/>
          </a:ln>
        </p:spPr>
      </p:pic>
      <p:sp>
        <p:nvSpPr>
          <p:cNvPr id="78" name="Google Shape;78;p16"/>
          <p:cNvSpPr txBox="1"/>
          <p:nvPr/>
        </p:nvSpPr>
        <p:spPr>
          <a:xfrm>
            <a:off x="72875" y="2250750"/>
            <a:ext cx="5222100" cy="321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FF00"/>
              </a:solidFill>
            </a:endParaRPr>
          </a:p>
        </p:txBody>
      </p:sp>
      <p:sp>
        <p:nvSpPr>
          <p:cNvPr id="79" name="Google Shape;79;p16"/>
          <p:cNvSpPr txBox="1"/>
          <p:nvPr/>
        </p:nvSpPr>
        <p:spPr>
          <a:xfrm>
            <a:off x="6574425" y="3152750"/>
            <a:ext cx="2696700" cy="2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FF00"/>
              </a:solidFill>
            </a:endParaRPr>
          </a:p>
        </p:txBody>
      </p:sp>
      <p:sp>
        <p:nvSpPr>
          <p:cNvPr id="80" name="Google Shape;80;p16"/>
          <p:cNvSpPr txBox="1"/>
          <p:nvPr/>
        </p:nvSpPr>
        <p:spPr>
          <a:xfrm>
            <a:off x="6856688" y="1405625"/>
            <a:ext cx="1788600" cy="468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FF00"/>
              </a:solidFill>
            </a:endParaRPr>
          </a:p>
        </p:txBody>
      </p:sp>
      <p:pic>
        <p:nvPicPr>
          <p:cNvPr id="81" name="Google Shape;81;p16"/>
          <p:cNvPicPr preferRelativeResize="0"/>
          <p:nvPr/>
        </p:nvPicPr>
        <p:blipFill rotWithShape="1">
          <a:blip r:embed="rId4">
            <a:alphaModFix/>
          </a:blip>
          <a:srcRect b="0" l="51999" r="0" t="63496"/>
          <a:stretch/>
        </p:blipFill>
        <p:spPr>
          <a:xfrm>
            <a:off x="6955450" y="3574950"/>
            <a:ext cx="1591100" cy="907500"/>
          </a:xfrm>
          <a:prstGeom prst="rect">
            <a:avLst/>
          </a:prstGeom>
          <a:noFill/>
          <a:ln>
            <a:noFill/>
          </a:ln>
        </p:spPr>
      </p:pic>
      <p:sp>
        <p:nvSpPr>
          <p:cNvPr id="82" name="Google Shape;82;p16"/>
          <p:cNvSpPr txBox="1"/>
          <p:nvPr/>
        </p:nvSpPr>
        <p:spPr>
          <a:xfrm>
            <a:off x="202600" y="3626000"/>
            <a:ext cx="458700" cy="1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FF00"/>
                </a:solidFill>
              </a:rPr>
              <a:t>1</a:t>
            </a:r>
            <a:endParaRPr>
              <a:solidFill>
                <a:srgbClr val="00FF00"/>
              </a:solidFill>
            </a:endParaRPr>
          </a:p>
        </p:txBody>
      </p:sp>
      <p:sp>
        <p:nvSpPr>
          <p:cNvPr id="83" name="Google Shape;83;p16"/>
          <p:cNvSpPr txBox="1"/>
          <p:nvPr/>
        </p:nvSpPr>
        <p:spPr>
          <a:xfrm>
            <a:off x="131375" y="1616825"/>
            <a:ext cx="4668600" cy="25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a:solidFill>
                <a:srgbClr val="00FF00"/>
              </a:solidFill>
            </a:endParaRPr>
          </a:p>
        </p:txBody>
      </p:sp>
      <p:sp>
        <p:nvSpPr>
          <p:cNvPr id="84" name="Google Shape;84;p16"/>
          <p:cNvSpPr txBox="1"/>
          <p:nvPr/>
        </p:nvSpPr>
        <p:spPr>
          <a:xfrm>
            <a:off x="3789425" y="4072350"/>
            <a:ext cx="60600" cy="14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FF00"/>
                </a:solidFill>
              </a:rPr>
              <a:t>2</a:t>
            </a:r>
            <a:endParaRPr>
              <a:solidFill>
                <a:srgbClr val="00FF00"/>
              </a:solidFill>
            </a:endParaRPr>
          </a:p>
        </p:txBody>
      </p:sp>
      <p:sp>
        <p:nvSpPr>
          <p:cNvPr id="85" name="Google Shape;85;p16"/>
          <p:cNvSpPr txBox="1"/>
          <p:nvPr/>
        </p:nvSpPr>
        <p:spPr>
          <a:xfrm>
            <a:off x="7099238" y="4482450"/>
            <a:ext cx="1303500" cy="62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FF00"/>
                </a:solidFill>
              </a:rPr>
              <a:t>Picture of Calibration</a:t>
            </a:r>
            <a:endParaRPr>
              <a:solidFill>
                <a:srgbClr val="00FF00"/>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3: </a:t>
            </a:r>
            <a:r>
              <a:rPr lang="en">
                <a:solidFill>
                  <a:srgbClr val="00FF00"/>
                </a:solidFill>
              </a:rPr>
              <a:t>Measuring</a:t>
            </a:r>
            <a:endParaRPr>
              <a:solidFill>
                <a:srgbClr val="00FF00"/>
              </a:solidFill>
            </a:endParaRPr>
          </a:p>
        </p:txBody>
      </p:sp>
      <p:sp>
        <p:nvSpPr>
          <p:cNvPr id="91" name="Google Shape;91;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2300">
                <a:solidFill>
                  <a:srgbClr val="00FF00"/>
                </a:solidFill>
              </a:rPr>
              <a:t>I slid the tube out of the tape, and used a dial cipher to measure the tape thing (25.26mm diameter), and the pvc tube(21.52mm diameter). There are other places on the dial cipher that I could use for measurements, such as the ruler part, and the smaller set of two prongs. </a:t>
            </a:r>
            <a:endParaRPr sz="2300">
              <a:solidFill>
                <a:srgbClr val="00FF00"/>
              </a:solidFill>
            </a:endParaRPr>
          </a:p>
          <a:p>
            <a:pPr indent="0" lvl="0" marL="0" rtl="0" algn="l">
              <a:spcBef>
                <a:spcPts val="1200"/>
              </a:spcBef>
              <a:spcAft>
                <a:spcPts val="1200"/>
              </a:spcAft>
              <a:buNone/>
            </a:pPr>
            <a:r>
              <a:t/>
            </a:r>
            <a:endParaRPr/>
          </a:p>
        </p:txBody>
      </p:sp>
      <p:pic>
        <p:nvPicPr>
          <p:cNvPr id="92" name="Google Shape;92;p17"/>
          <p:cNvPicPr preferRelativeResize="0"/>
          <p:nvPr/>
        </p:nvPicPr>
        <p:blipFill rotWithShape="1">
          <a:blip r:embed="rId3">
            <a:alphaModFix/>
          </a:blip>
          <a:srcRect b="0" l="23014" r="6129" t="65861"/>
          <a:stretch/>
        </p:blipFill>
        <p:spPr>
          <a:xfrm>
            <a:off x="72875" y="3721846"/>
            <a:ext cx="3817600" cy="1379550"/>
          </a:xfrm>
          <a:prstGeom prst="rect">
            <a:avLst/>
          </a:prstGeom>
          <a:noFill/>
          <a:ln>
            <a:noFill/>
          </a:ln>
        </p:spPr>
      </p:pic>
      <p:pic>
        <p:nvPicPr>
          <p:cNvPr id="93" name="Google Shape;93;p17"/>
          <p:cNvPicPr preferRelativeResize="0"/>
          <p:nvPr/>
        </p:nvPicPr>
        <p:blipFill rotWithShape="1">
          <a:blip r:embed="rId4">
            <a:alphaModFix/>
          </a:blip>
          <a:srcRect b="0" l="39944" r="0" t="62883"/>
          <a:stretch/>
        </p:blipFill>
        <p:spPr>
          <a:xfrm>
            <a:off x="6663663" y="3907625"/>
            <a:ext cx="2174675" cy="1008000"/>
          </a:xfrm>
          <a:prstGeom prst="rect">
            <a:avLst/>
          </a:prstGeom>
          <a:noFill/>
          <a:ln>
            <a:noFill/>
          </a:ln>
        </p:spPr>
      </p:pic>
      <p:sp>
        <p:nvSpPr>
          <p:cNvPr id="94" name="Google Shape;94;p17"/>
          <p:cNvSpPr txBox="1"/>
          <p:nvPr/>
        </p:nvSpPr>
        <p:spPr>
          <a:xfrm>
            <a:off x="4040700" y="4040700"/>
            <a:ext cx="2029200" cy="23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00FF00"/>
                </a:solidFill>
              </a:rPr>
              <a:t>My measurements</a:t>
            </a:r>
            <a:endParaRPr>
              <a:solidFill>
                <a:srgbClr val="00FF00"/>
              </a:solidFill>
            </a:endParaRPr>
          </a:p>
        </p:txBody>
      </p:sp>
      <p:cxnSp>
        <p:nvCxnSpPr>
          <p:cNvPr id="95" name="Google Shape;95;p17"/>
          <p:cNvCxnSpPr>
            <a:stCxn id="94" idx="1"/>
            <a:endCxn id="92" idx="3"/>
          </p:cNvCxnSpPr>
          <p:nvPr/>
        </p:nvCxnSpPr>
        <p:spPr>
          <a:xfrm flipH="1">
            <a:off x="3890400" y="4159800"/>
            <a:ext cx="150300" cy="251700"/>
          </a:xfrm>
          <a:prstGeom prst="straightConnector1">
            <a:avLst/>
          </a:prstGeom>
          <a:noFill/>
          <a:ln cap="flat" cmpd="sng" w="9525">
            <a:solidFill>
              <a:srgbClr val="00FF00"/>
            </a:solidFill>
            <a:prstDash val="solid"/>
            <a:round/>
            <a:headEnd len="med" w="med" type="none"/>
            <a:tailEnd len="med" w="med" type="triangle"/>
          </a:ln>
        </p:spPr>
      </p:cxnSp>
      <p:cxnSp>
        <p:nvCxnSpPr>
          <p:cNvPr id="96" name="Google Shape;96;p17"/>
          <p:cNvCxnSpPr>
            <a:stCxn id="94" idx="3"/>
            <a:endCxn id="93" idx="1"/>
          </p:cNvCxnSpPr>
          <p:nvPr/>
        </p:nvCxnSpPr>
        <p:spPr>
          <a:xfrm>
            <a:off x="6069900" y="4159800"/>
            <a:ext cx="593700" cy="25170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8"/>
          <p:cNvSpPr txBox="1"/>
          <p:nvPr>
            <p:ph type="title"/>
          </p:nvPr>
        </p:nvSpPr>
        <p:spPr>
          <a:xfrm>
            <a:off x="311700" y="3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4: Orthographic Drawing</a:t>
            </a:r>
            <a:endParaRPr>
              <a:solidFill>
                <a:srgbClr val="00FF00"/>
              </a:solidFill>
            </a:endParaRPr>
          </a:p>
        </p:txBody>
      </p:sp>
      <p:sp>
        <p:nvSpPr>
          <p:cNvPr id="102" name="Google Shape;102;p18"/>
          <p:cNvSpPr txBox="1"/>
          <p:nvPr>
            <p:ph idx="1" type="body"/>
          </p:nvPr>
        </p:nvSpPr>
        <p:spPr>
          <a:xfrm>
            <a:off x="0" y="575975"/>
            <a:ext cx="9144000" cy="1306500"/>
          </a:xfrm>
          <a:prstGeom prst="rect">
            <a:avLst/>
          </a:prstGeom>
        </p:spPr>
        <p:txBody>
          <a:bodyPr anchorCtr="0" anchor="t" bIns="91425" lIns="91425" spcFirstLastPara="1" rIns="91425" wrap="square" tIns="91425">
            <a:noAutofit/>
          </a:bodyPr>
          <a:lstStyle/>
          <a:p>
            <a:pPr indent="0" lvl="0" marL="0" rtl="0" algn="l">
              <a:lnSpc>
                <a:spcPct val="95000"/>
              </a:lnSpc>
              <a:spcBef>
                <a:spcPts val="0"/>
              </a:spcBef>
              <a:spcAft>
                <a:spcPts val="1200"/>
              </a:spcAft>
              <a:buNone/>
            </a:pPr>
            <a:r>
              <a:rPr lang="en" sz="2000">
                <a:solidFill>
                  <a:srgbClr val="00FF00"/>
                </a:solidFill>
              </a:rPr>
              <a:t>Using my dimensions from my measuring, I made an orthographic drawing. One side of a square is equal to 2 mm. The drawing is not exactly to scale due to human limitations, but it doesn’t need to be, as it is a guide. This is my completed drawing. It </a:t>
            </a:r>
            <a:r>
              <a:rPr lang="en" sz="2000">
                <a:solidFill>
                  <a:srgbClr val="00FF00"/>
                </a:solidFill>
              </a:rPr>
              <a:t>works</a:t>
            </a:r>
            <a:r>
              <a:rPr lang="en" sz="2000">
                <a:solidFill>
                  <a:srgbClr val="00FF00"/>
                </a:solidFill>
              </a:rPr>
              <a:t> and the rest doesn’t matter.</a:t>
            </a:r>
            <a:endParaRPr sz="2000">
              <a:solidFill>
                <a:srgbClr val="00FF00"/>
              </a:solidFill>
            </a:endParaRPr>
          </a:p>
        </p:txBody>
      </p:sp>
      <p:pic>
        <p:nvPicPr>
          <p:cNvPr id="103" name="Google Shape;103;p18"/>
          <p:cNvPicPr preferRelativeResize="0"/>
          <p:nvPr/>
        </p:nvPicPr>
        <p:blipFill rotWithShape="1">
          <a:blip r:embed="rId3">
            <a:alphaModFix/>
          </a:blip>
          <a:srcRect b="15253" l="28999" r="1657" t="15825"/>
          <a:stretch/>
        </p:blipFill>
        <p:spPr>
          <a:xfrm>
            <a:off x="3021425" y="2243325"/>
            <a:ext cx="3771900" cy="28115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19"/>
          <p:cNvSpPr txBox="1"/>
          <p:nvPr>
            <p:ph type="title"/>
          </p:nvPr>
        </p:nvSpPr>
        <p:spPr>
          <a:xfrm>
            <a:off x="311700" y="23327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5: Oneshape Design</a:t>
            </a:r>
            <a:endParaRPr>
              <a:solidFill>
                <a:srgbClr val="00FF00"/>
              </a:solidFill>
            </a:endParaRPr>
          </a:p>
        </p:txBody>
      </p:sp>
      <p:sp>
        <p:nvSpPr>
          <p:cNvPr id="109" name="Google Shape;109;p19"/>
          <p:cNvSpPr txBox="1"/>
          <p:nvPr>
            <p:ph idx="1" type="body"/>
          </p:nvPr>
        </p:nvSpPr>
        <p:spPr>
          <a:xfrm>
            <a:off x="311700" y="8059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I followed the youtube video to the letter, and I think you don’t want two pages of instructions, so link </a:t>
            </a:r>
            <a:r>
              <a:rPr lang="en" u="sng">
                <a:solidFill>
                  <a:schemeClr val="hlink"/>
                </a:solidFill>
                <a:hlinkClick r:id="rId3"/>
              </a:rPr>
              <a:t>here</a:t>
            </a:r>
            <a:r>
              <a:rPr lang="en">
                <a:solidFill>
                  <a:srgbClr val="00FF00"/>
                </a:solidFill>
              </a:rPr>
              <a:t>. All I did was take the orthographic drawing for my </a:t>
            </a:r>
            <a:r>
              <a:rPr lang="en">
                <a:solidFill>
                  <a:srgbClr val="00FF00"/>
                </a:solidFill>
              </a:rPr>
              <a:t>nose cone</a:t>
            </a:r>
            <a:r>
              <a:rPr lang="en">
                <a:solidFill>
                  <a:srgbClr val="00FF00"/>
                </a:solidFill>
              </a:rPr>
              <a:t>, and made it into a CAD design. Then I made it into an STL file, and put it onto a USB stick. It got 3D printed. It weighs 8.36 grams</a:t>
            </a:r>
            <a:endParaRPr>
              <a:solidFill>
                <a:srgbClr val="00FF00"/>
              </a:solidFill>
            </a:endParaRPr>
          </a:p>
        </p:txBody>
      </p:sp>
      <p:pic>
        <p:nvPicPr>
          <p:cNvPr id="110" name="Google Shape;110;p19"/>
          <p:cNvPicPr preferRelativeResize="0"/>
          <p:nvPr/>
        </p:nvPicPr>
        <p:blipFill rotWithShape="1">
          <a:blip r:embed="rId4">
            <a:alphaModFix/>
          </a:blip>
          <a:srcRect b="0" l="1147" r="0" t="8130"/>
          <a:stretch/>
        </p:blipFill>
        <p:spPr>
          <a:xfrm>
            <a:off x="2423500" y="2227525"/>
            <a:ext cx="4297001" cy="2495725"/>
          </a:xfrm>
          <a:prstGeom prst="rect">
            <a:avLst/>
          </a:prstGeom>
          <a:noFill/>
          <a:ln>
            <a:noFill/>
          </a:ln>
        </p:spPr>
      </p:pic>
      <p:sp>
        <p:nvSpPr>
          <p:cNvPr id="111" name="Google Shape;111;p19"/>
          <p:cNvSpPr txBox="1"/>
          <p:nvPr/>
        </p:nvSpPr>
        <p:spPr>
          <a:xfrm>
            <a:off x="2376875" y="4633375"/>
            <a:ext cx="4296900" cy="361800"/>
          </a:xfrm>
          <a:prstGeom prst="rect">
            <a:avLst/>
          </a:prstGeom>
          <a:noFill/>
          <a:ln>
            <a:noFill/>
          </a:ln>
        </p:spPr>
        <p:txBody>
          <a:bodyPr anchorCtr="0" anchor="t" bIns="91425" lIns="91425" spcFirstLastPara="1" rIns="91425" wrap="square" tIns="91425">
            <a:noAutofit/>
          </a:bodyPr>
          <a:lstStyle/>
          <a:p>
            <a:pPr indent="-317500" lvl="0" marL="457200" rtl="0" algn="ctr">
              <a:spcBef>
                <a:spcPts val="0"/>
              </a:spcBef>
              <a:spcAft>
                <a:spcPts val="0"/>
              </a:spcAft>
              <a:buClr>
                <a:srgbClr val="00FF00"/>
              </a:buClr>
              <a:buSzPts val="1400"/>
              <a:buChar char="●"/>
            </a:pPr>
            <a:r>
              <a:rPr lang="en">
                <a:solidFill>
                  <a:srgbClr val="00FF00"/>
                </a:solidFill>
              </a:rPr>
              <a:t>My completed nose cone.</a:t>
            </a:r>
            <a:endParaRPr>
              <a:solidFill>
                <a:srgbClr val="00FF0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p20"/>
          <p:cNvSpPr txBox="1"/>
          <p:nvPr>
            <p:ph type="title"/>
          </p:nvPr>
        </p:nvSpPr>
        <p:spPr>
          <a:xfrm>
            <a:off x="311700" y="14245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6: Fin Design</a:t>
            </a:r>
            <a:endParaRPr>
              <a:solidFill>
                <a:srgbClr val="00FF00"/>
              </a:solidFill>
            </a:endParaRPr>
          </a:p>
        </p:txBody>
      </p:sp>
      <p:sp>
        <p:nvSpPr>
          <p:cNvPr id="117" name="Google Shape;117;p20"/>
          <p:cNvSpPr txBox="1"/>
          <p:nvPr>
            <p:ph idx="1" type="body"/>
          </p:nvPr>
        </p:nvSpPr>
        <p:spPr>
          <a:xfrm>
            <a:off x="311700" y="609650"/>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I started off by researching the best fin shape. This was when I ran into </a:t>
            </a:r>
            <a:r>
              <a:rPr lang="en">
                <a:solidFill>
                  <a:srgbClr val="00FF00"/>
                </a:solidFill>
              </a:rPr>
              <a:t>problem</a:t>
            </a:r>
            <a:r>
              <a:rPr lang="en">
                <a:solidFill>
                  <a:srgbClr val="00FF00"/>
                </a:solidFill>
              </a:rPr>
              <a:t> # 1. It simply was that the optimal fin shape was an ellipse, and the </a:t>
            </a:r>
            <a:r>
              <a:rPr lang="en">
                <a:solidFill>
                  <a:srgbClr val="00FF00"/>
                </a:solidFill>
              </a:rPr>
              <a:t>assignment</a:t>
            </a:r>
            <a:r>
              <a:rPr lang="en">
                <a:solidFill>
                  <a:srgbClr val="00FF00"/>
                </a:solidFill>
              </a:rPr>
              <a:t> demanded the the fin have a flat base. However, time was tight, so a trapezoidal design seemed like the right balance between construction time and functionality, as it was easy to make in addition to be the only design that functioned as well as the eclipse. I choose to do three fins, as it seemed to provide reduced air </a:t>
            </a:r>
            <a:r>
              <a:rPr lang="en">
                <a:solidFill>
                  <a:srgbClr val="00FF00"/>
                </a:solidFill>
              </a:rPr>
              <a:t>resistance, and smaller fins, as big fins are not as necessary with the trapezoidal design. I did not have time to do the dimensions based on research, so I went with my gut. I made an orthographic drawing and set to work.</a:t>
            </a:r>
            <a:endParaRPr>
              <a:solidFill>
                <a:srgbClr val="00FF00"/>
              </a:solidFill>
            </a:endParaRPr>
          </a:p>
        </p:txBody>
      </p:sp>
      <p:pic>
        <p:nvPicPr>
          <p:cNvPr id="118" name="Google Shape;118;p20"/>
          <p:cNvPicPr preferRelativeResize="0"/>
          <p:nvPr/>
        </p:nvPicPr>
        <p:blipFill rotWithShape="1">
          <a:blip r:embed="rId3">
            <a:alphaModFix/>
          </a:blip>
          <a:srcRect b="5259" l="28582" r="0" t="16707"/>
          <a:stretch/>
        </p:blipFill>
        <p:spPr>
          <a:xfrm>
            <a:off x="3452725" y="3510025"/>
            <a:ext cx="1993325" cy="163347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7: Fin CAD Design</a:t>
            </a:r>
            <a:endParaRPr>
              <a:solidFill>
                <a:srgbClr val="00FF00"/>
              </a:solidFill>
            </a:endParaRPr>
          </a:p>
        </p:txBody>
      </p:sp>
      <p:sp>
        <p:nvSpPr>
          <p:cNvPr id="124" name="Google Shape;12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I converted my orthographic drawing into oneshape. I followed the instructions in </a:t>
            </a:r>
            <a:r>
              <a:rPr lang="en" u="sng">
                <a:solidFill>
                  <a:schemeClr val="hlink"/>
                </a:solidFill>
                <a:hlinkClick r:id="rId3"/>
              </a:rPr>
              <a:t>this video</a:t>
            </a:r>
            <a:r>
              <a:rPr lang="en">
                <a:solidFill>
                  <a:srgbClr val="00FF00"/>
                </a:solidFill>
              </a:rPr>
              <a:t> to do so.</a:t>
            </a:r>
            <a:endParaRPr>
              <a:solidFill>
                <a:srgbClr val="00FF00"/>
              </a:solidFill>
            </a:endParaRPr>
          </a:p>
        </p:txBody>
      </p:sp>
      <p:pic>
        <p:nvPicPr>
          <p:cNvPr id="125" name="Google Shape;125;p21"/>
          <p:cNvPicPr preferRelativeResize="0"/>
          <p:nvPr/>
        </p:nvPicPr>
        <p:blipFill rotWithShape="1">
          <a:blip r:embed="rId4">
            <a:alphaModFix/>
          </a:blip>
          <a:srcRect b="0" l="2875" r="0" t="9083"/>
          <a:stretch/>
        </p:blipFill>
        <p:spPr>
          <a:xfrm>
            <a:off x="2436750" y="1702725"/>
            <a:ext cx="4599101" cy="2690851"/>
          </a:xfrm>
          <a:prstGeom prst="rect">
            <a:avLst/>
          </a:prstGeom>
          <a:noFill/>
          <a:ln>
            <a:noFill/>
          </a:ln>
        </p:spPr>
      </p:pic>
      <p:sp>
        <p:nvSpPr>
          <p:cNvPr id="126" name="Google Shape;126;p21"/>
          <p:cNvSpPr txBox="1"/>
          <p:nvPr/>
        </p:nvSpPr>
        <p:spPr>
          <a:xfrm>
            <a:off x="2436775" y="4393575"/>
            <a:ext cx="4599000" cy="714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00FF00"/>
                </a:solidFill>
              </a:rPr>
              <a:t>My completed rocket fins, weighing 16.38 grams</a:t>
            </a:r>
            <a:endParaRPr sz="1500">
              <a:solidFill>
                <a:srgbClr val="00FF00"/>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2"/>
          <p:cNvSpPr txBox="1"/>
          <p:nvPr>
            <p:ph type="title"/>
          </p:nvPr>
        </p:nvSpPr>
        <p:spPr>
          <a:xfrm>
            <a:off x="311700" y="5460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 Step 8: Assembling The</a:t>
            </a:r>
            <a:r>
              <a:rPr lang="en">
                <a:solidFill>
                  <a:srgbClr val="00FF00"/>
                </a:solidFill>
              </a:rPr>
              <a:t> Rocket</a:t>
            </a:r>
            <a:endParaRPr>
              <a:solidFill>
                <a:srgbClr val="00FF00"/>
              </a:solidFill>
            </a:endParaRPr>
          </a:p>
        </p:txBody>
      </p:sp>
      <p:sp>
        <p:nvSpPr>
          <p:cNvPr id="132" name="Google Shape;132;p22"/>
          <p:cNvSpPr txBox="1"/>
          <p:nvPr>
            <p:ph idx="1" type="body"/>
          </p:nvPr>
        </p:nvSpPr>
        <p:spPr>
          <a:xfrm>
            <a:off x="311700" y="669600"/>
            <a:ext cx="86232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Before I even started on the fins, my </a:t>
            </a:r>
            <a:r>
              <a:rPr lang="en">
                <a:solidFill>
                  <a:srgbClr val="00FF00"/>
                </a:solidFill>
              </a:rPr>
              <a:t>nose cone</a:t>
            </a:r>
            <a:r>
              <a:rPr lang="en">
                <a:solidFill>
                  <a:srgbClr val="00FF00"/>
                </a:solidFill>
              </a:rPr>
              <a:t> had printed. So, I asked the teacher to </a:t>
            </a:r>
            <a:r>
              <a:rPr lang="en">
                <a:solidFill>
                  <a:srgbClr val="00FF00"/>
                </a:solidFill>
              </a:rPr>
              <a:t>super glue</a:t>
            </a:r>
            <a:r>
              <a:rPr lang="en">
                <a:solidFill>
                  <a:srgbClr val="00FF00"/>
                </a:solidFill>
              </a:rPr>
              <a:t> it onto the body of my rocket. </a:t>
            </a:r>
            <a:r>
              <a:rPr lang="en">
                <a:solidFill>
                  <a:srgbClr val="00FF00"/>
                </a:solidFill>
              </a:rPr>
              <a:t>I also noticed a gap between the nose cone and the rocket body, so I used tape to cover it up. Then I did the stuff I covered in slides 6-8. </a:t>
            </a:r>
            <a:r>
              <a:rPr lang="en">
                <a:solidFill>
                  <a:srgbClr val="00FF00"/>
                </a:solidFill>
              </a:rPr>
              <a:t>Once I had my fins completed, I exported them as an STL file and then had them 3D printed. The first two times I tried, they didn’t make it onto the USB stick and therefore didn’t get printed. On my third try, I asked the </a:t>
            </a:r>
            <a:r>
              <a:rPr lang="en">
                <a:solidFill>
                  <a:srgbClr val="00FF00"/>
                </a:solidFill>
              </a:rPr>
              <a:t>teacher</a:t>
            </a:r>
            <a:r>
              <a:rPr lang="en">
                <a:solidFill>
                  <a:srgbClr val="00FF00"/>
                </a:solidFill>
              </a:rPr>
              <a:t> to walk me through it. Once my fins had printed, I used a tool to remove the cap with my </a:t>
            </a:r>
            <a:r>
              <a:rPr lang="en">
                <a:solidFill>
                  <a:srgbClr val="00FF00"/>
                </a:solidFill>
              </a:rPr>
              <a:t>initials</a:t>
            </a:r>
            <a:r>
              <a:rPr lang="en">
                <a:solidFill>
                  <a:srgbClr val="00FF00"/>
                </a:solidFill>
              </a:rPr>
              <a:t> in it from the rocket. Then I </a:t>
            </a:r>
            <a:r>
              <a:rPr lang="en">
                <a:solidFill>
                  <a:srgbClr val="00FF00"/>
                </a:solidFill>
              </a:rPr>
              <a:t>slid them</a:t>
            </a:r>
            <a:r>
              <a:rPr lang="en">
                <a:solidFill>
                  <a:srgbClr val="00FF00"/>
                </a:solidFill>
              </a:rPr>
              <a:t> onto the bottom of the rocket. My rocket weighs 64 grams.</a:t>
            </a:r>
            <a:endParaRPr>
              <a:solidFill>
                <a:srgbClr val="00FF00"/>
              </a:solidFill>
            </a:endParaRPr>
          </a:p>
        </p:txBody>
      </p:sp>
      <p:pic>
        <p:nvPicPr>
          <p:cNvPr id="133" name="Google Shape;133;p22"/>
          <p:cNvPicPr preferRelativeResize="0"/>
          <p:nvPr/>
        </p:nvPicPr>
        <p:blipFill rotWithShape="1">
          <a:blip r:embed="rId3">
            <a:alphaModFix/>
          </a:blip>
          <a:srcRect b="0" l="20868" r="6293" t="29204"/>
          <a:stretch/>
        </p:blipFill>
        <p:spPr>
          <a:xfrm>
            <a:off x="4689825" y="3339425"/>
            <a:ext cx="2414425" cy="175995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p23"/>
          <p:cNvSpPr txBox="1"/>
          <p:nvPr>
            <p:ph type="title"/>
          </p:nvPr>
        </p:nvSpPr>
        <p:spPr>
          <a:xfrm>
            <a:off x="311700" y="0"/>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9: </a:t>
            </a:r>
            <a:r>
              <a:rPr lang="en">
                <a:solidFill>
                  <a:srgbClr val="00FF00"/>
                </a:solidFill>
              </a:rPr>
              <a:t>Painting the Rocket</a:t>
            </a:r>
            <a:endParaRPr>
              <a:solidFill>
                <a:srgbClr val="00FF00"/>
              </a:solidFill>
            </a:endParaRPr>
          </a:p>
        </p:txBody>
      </p:sp>
      <p:sp>
        <p:nvSpPr>
          <p:cNvPr id="139" name="Google Shape;139;p23"/>
          <p:cNvSpPr txBox="1"/>
          <p:nvPr>
            <p:ph idx="1" type="body"/>
          </p:nvPr>
        </p:nvSpPr>
        <p:spPr>
          <a:xfrm>
            <a:off x="311700" y="4435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With my rocket assembled, it was time to paint it. The teacher had a bunch of cans of spray paint and told us we would each have one minute to paint our rocket. As I was waiting to be allowed to start, I considered a color scheme. I knew I only had time to paint with two colors. The only possible combinations that didn’t require me to use a color that wasn’t </a:t>
            </a:r>
            <a:r>
              <a:rPr lang="en">
                <a:solidFill>
                  <a:srgbClr val="00FF00"/>
                </a:solidFill>
              </a:rPr>
              <a:t>available in a tolerable shade, were black and either red, blue or cyan. As red and black was being used by just about everyone else, that was out. So, since I though the cyan would contrast better, I went with a cyan nose cone, fins, and thing that the fins attached to. The rest of the body was painted the deepest black available. After I had painted everything, I had to wait until the next class for the rocket to be done.</a:t>
            </a:r>
            <a:endParaRPr>
              <a:solidFill>
                <a:srgbClr val="00FF00"/>
              </a:solidFill>
            </a:endParaRPr>
          </a:p>
        </p:txBody>
      </p:sp>
      <p:pic>
        <p:nvPicPr>
          <p:cNvPr id="140" name="Google Shape;140;p23"/>
          <p:cNvPicPr preferRelativeResize="0"/>
          <p:nvPr/>
        </p:nvPicPr>
        <p:blipFill rotWithShape="1">
          <a:blip r:embed="rId3">
            <a:alphaModFix/>
          </a:blip>
          <a:srcRect b="0" l="58881" r="20870" t="0"/>
          <a:stretch/>
        </p:blipFill>
        <p:spPr>
          <a:xfrm rot="-5400000">
            <a:off x="4428875" y="3004050"/>
            <a:ext cx="573450" cy="24860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Mass of the rocket</a:t>
            </a:r>
            <a:endParaRPr>
              <a:solidFill>
                <a:srgbClr val="00FF00"/>
              </a:solidFill>
            </a:endParaRPr>
          </a:p>
        </p:txBody>
      </p:sp>
      <p:pic>
        <p:nvPicPr>
          <p:cNvPr id="146" name="Google Shape;146;p24"/>
          <p:cNvPicPr preferRelativeResize="0"/>
          <p:nvPr/>
        </p:nvPicPr>
        <p:blipFill rotWithShape="1">
          <a:blip r:embed="rId3">
            <a:alphaModFix/>
          </a:blip>
          <a:srcRect b="0" l="58881" r="20870" t="0"/>
          <a:stretch/>
        </p:blipFill>
        <p:spPr>
          <a:xfrm rot="5400000">
            <a:off x="3028268" y="-901182"/>
            <a:ext cx="1409400" cy="6110000"/>
          </a:xfrm>
          <a:prstGeom prst="rect">
            <a:avLst/>
          </a:prstGeom>
          <a:noFill/>
          <a:ln>
            <a:noFill/>
          </a:ln>
        </p:spPr>
      </p:pic>
      <p:sp>
        <p:nvSpPr>
          <p:cNvPr id="147" name="Google Shape;147;p24"/>
          <p:cNvSpPr txBox="1"/>
          <p:nvPr/>
        </p:nvSpPr>
        <p:spPr>
          <a:xfrm>
            <a:off x="6964700" y="2179300"/>
            <a:ext cx="2044500" cy="303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rPr>
              <a:t>8.63 grams</a:t>
            </a:r>
            <a:endParaRPr sz="1800">
              <a:solidFill>
                <a:srgbClr val="00FF00"/>
              </a:solidFill>
            </a:endParaRPr>
          </a:p>
        </p:txBody>
      </p:sp>
      <p:sp>
        <p:nvSpPr>
          <p:cNvPr id="148" name="Google Shape;148;p24"/>
          <p:cNvSpPr txBox="1"/>
          <p:nvPr/>
        </p:nvSpPr>
        <p:spPr>
          <a:xfrm>
            <a:off x="561675" y="3201525"/>
            <a:ext cx="17637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rPr>
              <a:t>16.38 grams</a:t>
            </a:r>
            <a:endParaRPr sz="1800">
              <a:solidFill>
                <a:srgbClr val="00FF00"/>
              </a:solidFill>
            </a:endParaRPr>
          </a:p>
        </p:txBody>
      </p:sp>
      <p:sp>
        <p:nvSpPr>
          <p:cNvPr id="149" name="Google Shape;149;p24"/>
          <p:cNvSpPr txBox="1"/>
          <p:nvPr/>
        </p:nvSpPr>
        <p:spPr>
          <a:xfrm>
            <a:off x="3358800" y="3347550"/>
            <a:ext cx="1584000" cy="377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rPr>
              <a:t>39.26 grams</a:t>
            </a:r>
            <a:endParaRPr sz="1800">
              <a:solidFill>
                <a:srgbClr val="00FF00"/>
              </a:solidFill>
            </a:endParaRPr>
          </a:p>
        </p:txBody>
      </p:sp>
      <p:sp>
        <p:nvSpPr>
          <p:cNvPr id="150" name="Google Shape;150;p24"/>
          <p:cNvSpPr txBox="1"/>
          <p:nvPr/>
        </p:nvSpPr>
        <p:spPr>
          <a:xfrm>
            <a:off x="3145350" y="4156375"/>
            <a:ext cx="4875300" cy="438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rPr>
              <a:t>Total Mass: 64 grams</a:t>
            </a:r>
            <a:endParaRPr sz="1800">
              <a:solidFill>
                <a:srgbClr val="00FF00"/>
              </a:solidFill>
            </a:endParaRPr>
          </a:p>
        </p:txBody>
      </p:sp>
      <p:cxnSp>
        <p:nvCxnSpPr>
          <p:cNvPr id="151" name="Google Shape;151;p24"/>
          <p:cNvCxnSpPr>
            <a:stCxn id="149" idx="0"/>
          </p:cNvCxnSpPr>
          <p:nvPr/>
        </p:nvCxnSpPr>
        <p:spPr>
          <a:xfrm rot="10800000">
            <a:off x="4038600" y="2460150"/>
            <a:ext cx="112200" cy="887400"/>
          </a:xfrm>
          <a:prstGeom prst="straightConnector1">
            <a:avLst/>
          </a:prstGeom>
          <a:noFill/>
          <a:ln cap="flat" cmpd="sng" w="9525">
            <a:solidFill>
              <a:srgbClr val="00FF00"/>
            </a:solidFill>
            <a:prstDash val="solid"/>
            <a:round/>
            <a:headEnd len="med" w="med" type="none"/>
            <a:tailEnd len="med" w="med" type="triangle"/>
          </a:ln>
        </p:spPr>
      </p:cxnSp>
      <p:cxnSp>
        <p:nvCxnSpPr>
          <p:cNvPr id="152" name="Google Shape;152;p24"/>
          <p:cNvCxnSpPr>
            <a:endCxn id="146" idx="0"/>
          </p:cNvCxnSpPr>
          <p:nvPr/>
        </p:nvCxnSpPr>
        <p:spPr>
          <a:xfrm rot="10800000">
            <a:off x="6787968" y="2153818"/>
            <a:ext cx="918300" cy="126600"/>
          </a:xfrm>
          <a:prstGeom prst="straightConnector1">
            <a:avLst/>
          </a:prstGeom>
          <a:noFill/>
          <a:ln cap="flat" cmpd="sng" w="9525">
            <a:solidFill>
              <a:srgbClr val="00FF00"/>
            </a:solidFill>
            <a:prstDash val="solid"/>
            <a:round/>
            <a:headEnd len="med" w="med" type="none"/>
            <a:tailEnd len="med" w="med" type="triangle"/>
          </a:ln>
        </p:spPr>
      </p:cxnSp>
      <p:cxnSp>
        <p:nvCxnSpPr>
          <p:cNvPr id="153" name="Google Shape;153;p24"/>
          <p:cNvCxnSpPr>
            <a:stCxn id="148" idx="0"/>
          </p:cNvCxnSpPr>
          <p:nvPr/>
        </p:nvCxnSpPr>
        <p:spPr>
          <a:xfrm flipH="1" rot="10800000">
            <a:off x="1443525" y="2392725"/>
            <a:ext cx="84300" cy="808800"/>
          </a:xfrm>
          <a:prstGeom prst="straightConnector1">
            <a:avLst/>
          </a:prstGeom>
          <a:noFill/>
          <a:ln cap="flat" cmpd="sng" w="9525">
            <a:solidFill>
              <a:srgbClr val="00FF00"/>
            </a:solidFill>
            <a:prstDash val="solid"/>
            <a:round/>
            <a:headEnd len="med" w="med" type="none"/>
            <a:tailEnd len="med" w="med" type="triangle"/>
          </a:ln>
        </p:spPr>
      </p:cxn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10: 60 psi </a:t>
            </a:r>
            <a:r>
              <a:rPr lang="en">
                <a:solidFill>
                  <a:srgbClr val="00FF00"/>
                </a:solidFill>
              </a:rPr>
              <a:t>Launch</a:t>
            </a:r>
            <a:endParaRPr>
              <a:solidFill>
                <a:srgbClr val="00FF00"/>
              </a:solidFill>
            </a:endParaRPr>
          </a:p>
        </p:txBody>
      </p:sp>
      <p:sp>
        <p:nvSpPr>
          <p:cNvPr id="159" name="Google Shape;159;p25"/>
          <p:cNvSpPr txBox="1"/>
          <p:nvPr>
            <p:ph idx="1" type="body"/>
          </p:nvPr>
        </p:nvSpPr>
        <p:spPr>
          <a:xfrm>
            <a:off x="311700" y="1152475"/>
            <a:ext cx="4302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1200"/>
              </a:spcAft>
              <a:buNone/>
            </a:pPr>
            <a:r>
              <a:rPr lang="en">
                <a:solidFill>
                  <a:srgbClr val="00FF00"/>
                </a:solidFill>
              </a:rPr>
              <a:t>Today in Engineering class, I launched my rocket. I felt </a:t>
            </a:r>
            <a:r>
              <a:rPr lang="en">
                <a:solidFill>
                  <a:srgbClr val="00FF00"/>
                </a:solidFill>
              </a:rPr>
              <a:t>excited</a:t>
            </a:r>
            <a:r>
              <a:rPr lang="en">
                <a:solidFill>
                  <a:srgbClr val="00FF00"/>
                </a:solidFill>
              </a:rPr>
              <a:t> when it was my turn to launch. My rocket went decently high and really fast. When it hit the apex, it turned around and shot down nearly as fast as it went up, nose first. My rocket was a little bent up, and the top of the tube seemed to have </a:t>
            </a:r>
            <a:r>
              <a:rPr lang="en">
                <a:solidFill>
                  <a:srgbClr val="00FF00"/>
                </a:solidFill>
              </a:rPr>
              <a:t>peeled</a:t>
            </a:r>
            <a:r>
              <a:rPr lang="en">
                <a:solidFill>
                  <a:srgbClr val="00FF00"/>
                </a:solidFill>
              </a:rPr>
              <a:t> away from the </a:t>
            </a:r>
            <a:r>
              <a:rPr lang="en">
                <a:solidFill>
                  <a:srgbClr val="00FF00"/>
                </a:solidFill>
              </a:rPr>
              <a:t>nose cone</a:t>
            </a:r>
            <a:r>
              <a:rPr lang="en">
                <a:solidFill>
                  <a:srgbClr val="00FF00"/>
                </a:solidFill>
              </a:rPr>
              <a:t>. There is some dirt near the top and some of the paint is gone.</a:t>
            </a:r>
            <a:endParaRPr>
              <a:solidFill>
                <a:srgbClr val="00FF00"/>
              </a:solidFill>
            </a:endParaRPr>
          </a:p>
        </p:txBody>
      </p:sp>
      <p:sp>
        <p:nvSpPr>
          <p:cNvPr id="160" name="Google Shape;160;p25"/>
          <p:cNvSpPr txBox="1"/>
          <p:nvPr/>
        </p:nvSpPr>
        <p:spPr>
          <a:xfrm>
            <a:off x="6263950" y="1120450"/>
            <a:ext cx="2443800" cy="3564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rgbClr val="00FF00"/>
                </a:solidFill>
              </a:rPr>
              <a:t>My rocket took 3.7 seconds to reach the apex of it’s flight. The total flight time was 7.25 seconds.</a:t>
            </a:r>
            <a:endParaRPr sz="1800">
              <a:solidFill>
                <a:srgbClr val="00FF00"/>
              </a:solidFill>
            </a:endParaRPr>
          </a:p>
        </p:txBody>
      </p:sp>
      <p:pic>
        <p:nvPicPr>
          <p:cNvPr id="161" name="Google Shape;161;p25"/>
          <p:cNvPicPr preferRelativeResize="0"/>
          <p:nvPr/>
        </p:nvPicPr>
        <p:blipFill rotWithShape="1">
          <a:blip r:embed="rId3">
            <a:alphaModFix/>
          </a:blip>
          <a:srcRect b="0" l="58881" r="20870" t="0"/>
          <a:stretch/>
        </p:blipFill>
        <p:spPr>
          <a:xfrm>
            <a:off x="5258200" y="1328750"/>
            <a:ext cx="573450" cy="248602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11: 70 psi Launch</a:t>
            </a:r>
            <a:endParaRPr>
              <a:solidFill>
                <a:srgbClr val="00FF00"/>
              </a:solidFill>
            </a:endParaRPr>
          </a:p>
        </p:txBody>
      </p:sp>
      <p:sp>
        <p:nvSpPr>
          <p:cNvPr id="167" name="Google Shape;167;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My first attempt at a 70 psi launch went horribly wrong. The </a:t>
            </a:r>
            <a:r>
              <a:rPr lang="en">
                <a:solidFill>
                  <a:srgbClr val="00FF00"/>
                </a:solidFill>
              </a:rPr>
              <a:t>nose cone</a:t>
            </a:r>
            <a:r>
              <a:rPr lang="en">
                <a:solidFill>
                  <a:srgbClr val="00FF00"/>
                </a:solidFill>
              </a:rPr>
              <a:t> went flying, and I had to </a:t>
            </a:r>
            <a:r>
              <a:rPr lang="en">
                <a:solidFill>
                  <a:srgbClr val="00FF00"/>
                </a:solidFill>
              </a:rPr>
              <a:t>super glue</a:t>
            </a:r>
            <a:r>
              <a:rPr lang="en">
                <a:solidFill>
                  <a:srgbClr val="00FF00"/>
                </a:solidFill>
              </a:rPr>
              <a:t> it back on and add tape to keep the rocket </a:t>
            </a:r>
            <a:r>
              <a:rPr lang="en">
                <a:solidFill>
                  <a:srgbClr val="00FF00"/>
                </a:solidFill>
              </a:rPr>
              <a:t>together. I repainted the body black to act as a sealant for the air pressure. The second launch went much better than the first one, with the rocket reaching the apex of it’s flight 3.6 seconds after launch, and landing 7.1 seconds after launch. It went up and down smoothly, and landed with its nose in the ground. It went straight up and down in a picture perfect parabola.</a:t>
            </a:r>
            <a:endParaRPr>
              <a:solidFill>
                <a:srgbClr val="00FF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12: 80 psi Launch</a:t>
            </a:r>
            <a:endParaRPr>
              <a:solidFill>
                <a:srgbClr val="00FF00"/>
              </a:solidFill>
            </a:endParaRPr>
          </a:p>
        </p:txBody>
      </p:sp>
      <p:sp>
        <p:nvSpPr>
          <p:cNvPr id="173" name="Google Shape;17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My eighty psi launch went well, however, the tube cracked upon hitting the ground. The rocket reached the apex of it’s flight 3.3 seconds after launch, and landed 7.3 seconds after launch. </a:t>
            </a:r>
            <a:r>
              <a:rPr lang="en">
                <a:solidFill>
                  <a:srgbClr val="00FF00"/>
                </a:solidFill>
              </a:rPr>
              <a:t>It went up while wobbling horizontally a lot. It went down smoothly nose first. The rocket was stuck a few inches deep into the ground.</a:t>
            </a:r>
            <a:endParaRPr>
              <a:solidFill>
                <a:srgbClr val="00FF00"/>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Step 13: Compare and contrast(First Glance)</a:t>
            </a:r>
            <a:endParaRPr>
              <a:solidFill>
                <a:srgbClr val="00FF00"/>
              </a:solidFill>
            </a:endParaRPr>
          </a:p>
        </p:txBody>
      </p:sp>
      <p:sp>
        <p:nvSpPr>
          <p:cNvPr id="179" name="Google Shape;179;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First, I used prusacslicer to get the mass of my rocket parts. My rocket weighs 64 grams total, with a </a:t>
            </a:r>
            <a:r>
              <a:rPr lang="en">
                <a:solidFill>
                  <a:srgbClr val="00FF00"/>
                </a:solidFill>
              </a:rPr>
              <a:t>nose cone</a:t>
            </a:r>
            <a:r>
              <a:rPr lang="en">
                <a:solidFill>
                  <a:srgbClr val="00FF00"/>
                </a:solidFill>
              </a:rPr>
              <a:t> mass of 8.36 grams, a fins mass of 16.38 grams, and a body mass of 39.26 grams. At 60 psi the it takes 3.7 seconds to reach the apex of the rockets launch, and 7.25 seconds for the entire flight. My data looks most similar to Riley Gauls, as the launch times for the 6o psi launch look very similar. My rocket looks most like Max’s Sulches, as the fins look very similar to his fins, the only </a:t>
            </a:r>
            <a:r>
              <a:rPr lang="en">
                <a:solidFill>
                  <a:srgbClr val="00FF00"/>
                </a:solidFill>
              </a:rPr>
              <a:t>real difference is the bulges on the end of his fins aren’t present on my fins. Dylans fins were very different from mine, as they had almost no similarities outside of the number fins and the reason for making stuff.</a:t>
            </a:r>
            <a:endParaRPr>
              <a:solidFill>
                <a:srgbClr val="00FF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ctr">
              <a:spcBef>
                <a:spcPts val="0"/>
              </a:spcBef>
              <a:spcAft>
                <a:spcPts val="0"/>
              </a:spcAft>
              <a:buNone/>
            </a:pPr>
            <a:r>
              <a:rPr lang="en">
                <a:solidFill>
                  <a:srgbClr val="00FF00"/>
                </a:solidFill>
              </a:rPr>
              <a:t>My Rocket vs Dylans</a:t>
            </a:r>
            <a:endParaRPr>
              <a:solidFill>
                <a:srgbClr val="00FF00"/>
              </a:solidFill>
            </a:endParaRPr>
          </a:p>
        </p:txBody>
      </p:sp>
      <p:sp>
        <p:nvSpPr>
          <p:cNvPr id="185" name="Google Shape;185;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FF00"/>
                </a:solidFill>
              </a:rPr>
              <a:t>My Rocket												Dylans</a:t>
            </a:r>
            <a:endParaRPr>
              <a:solidFill>
                <a:srgbClr val="00FF00"/>
              </a:solidFill>
            </a:endParaRPr>
          </a:p>
          <a:p>
            <a:pPr indent="0" lvl="0" marL="0" rtl="0" algn="l">
              <a:spcBef>
                <a:spcPts val="1200"/>
              </a:spcBef>
              <a:spcAft>
                <a:spcPts val="1200"/>
              </a:spcAft>
              <a:buNone/>
            </a:pPr>
            <a:r>
              <a:rPr lang="en">
                <a:solidFill>
                  <a:srgbClr val="00FF00"/>
                </a:solidFill>
              </a:rPr>
              <a:t>The fins on his are much bigger than on mine, and differently shaped.</a:t>
            </a:r>
            <a:endParaRPr>
              <a:solidFill>
                <a:srgbClr val="00FF00"/>
              </a:solidFill>
            </a:endParaRPr>
          </a:p>
        </p:txBody>
      </p:sp>
      <p:pic>
        <p:nvPicPr>
          <p:cNvPr id="186" name="Google Shape;186;p29"/>
          <p:cNvPicPr preferRelativeResize="0"/>
          <p:nvPr/>
        </p:nvPicPr>
        <p:blipFill rotWithShape="1">
          <a:blip r:embed="rId3">
            <a:alphaModFix/>
          </a:blip>
          <a:srcRect b="31427" l="14058" r="5750" t="0"/>
          <a:stretch/>
        </p:blipFill>
        <p:spPr>
          <a:xfrm>
            <a:off x="5603275" y="2260750"/>
            <a:ext cx="3229025" cy="2071075"/>
          </a:xfrm>
          <a:prstGeom prst="rect">
            <a:avLst/>
          </a:prstGeom>
          <a:noFill/>
          <a:ln>
            <a:noFill/>
          </a:ln>
        </p:spPr>
      </p:pic>
      <p:pic>
        <p:nvPicPr>
          <p:cNvPr id="187" name="Google Shape;187;p29"/>
          <p:cNvPicPr preferRelativeResize="0"/>
          <p:nvPr/>
        </p:nvPicPr>
        <p:blipFill rotWithShape="1">
          <a:blip r:embed="rId4">
            <a:alphaModFix/>
          </a:blip>
          <a:srcRect b="0" l="58881" r="20870" t="0"/>
          <a:stretch/>
        </p:blipFill>
        <p:spPr>
          <a:xfrm>
            <a:off x="652850" y="2339875"/>
            <a:ext cx="573450" cy="24860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Compared and contrast</a:t>
            </a:r>
            <a:endParaRPr>
              <a:solidFill>
                <a:srgbClr val="00FF00"/>
              </a:solidFill>
            </a:endParaRPr>
          </a:p>
        </p:txBody>
      </p:sp>
      <p:sp>
        <p:nvSpPr>
          <p:cNvPr id="193" name="Google Shape;193;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The heat map revealed that my rocket fins were </a:t>
            </a:r>
            <a:r>
              <a:rPr lang="en">
                <a:solidFill>
                  <a:srgbClr val="00FF00"/>
                </a:solidFill>
              </a:rPr>
              <a:t>statistically</a:t>
            </a:r>
            <a:r>
              <a:rPr lang="en">
                <a:solidFill>
                  <a:srgbClr val="00FF00"/>
                </a:solidFill>
              </a:rPr>
              <a:t> most similar to Riley Gaul’s in </a:t>
            </a:r>
            <a:r>
              <a:rPr lang="en">
                <a:solidFill>
                  <a:srgbClr val="00FF00"/>
                </a:solidFill>
              </a:rPr>
              <a:t>performance</a:t>
            </a:r>
            <a:r>
              <a:rPr lang="en">
                <a:solidFill>
                  <a:srgbClr val="00FF00"/>
                </a:solidFill>
              </a:rPr>
              <a:t>, as I guessed without the computer. They were </a:t>
            </a:r>
            <a:r>
              <a:rPr lang="en">
                <a:solidFill>
                  <a:srgbClr val="00FF00"/>
                </a:solidFill>
              </a:rPr>
              <a:t>statistically</a:t>
            </a:r>
            <a:r>
              <a:rPr lang="en">
                <a:solidFill>
                  <a:srgbClr val="00FF00"/>
                </a:solidFill>
              </a:rPr>
              <a:t> most different from Araon Zeemio’s in </a:t>
            </a:r>
            <a:r>
              <a:rPr lang="en">
                <a:solidFill>
                  <a:srgbClr val="00FF00"/>
                </a:solidFill>
              </a:rPr>
              <a:t>performance. They were staticstically most different from Dylan’s in terms of physical data. </a:t>
            </a:r>
            <a:r>
              <a:rPr lang="en">
                <a:solidFill>
                  <a:srgbClr val="00FF00"/>
                </a:solidFill>
              </a:rPr>
              <a:t>They were </a:t>
            </a:r>
            <a:r>
              <a:rPr lang="en">
                <a:solidFill>
                  <a:srgbClr val="00FF00"/>
                </a:solidFill>
              </a:rPr>
              <a:t>physically</a:t>
            </a:r>
            <a:r>
              <a:rPr lang="en">
                <a:solidFill>
                  <a:srgbClr val="00FF00"/>
                </a:solidFill>
              </a:rPr>
              <a:t> most similar to Sean Finnagan’s in terms of </a:t>
            </a:r>
            <a:r>
              <a:rPr lang="en">
                <a:solidFill>
                  <a:srgbClr val="00FF00"/>
                </a:solidFill>
              </a:rPr>
              <a:t>physical</a:t>
            </a:r>
            <a:r>
              <a:rPr lang="en">
                <a:solidFill>
                  <a:srgbClr val="00FF00"/>
                </a:solidFill>
              </a:rPr>
              <a:t> data.</a:t>
            </a:r>
            <a:endParaRPr>
              <a:solidFill>
                <a:srgbClr val="00FF0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Flight </a:t>
            </a:r>
            <a:r>
              <a:rPr lang="en">
                <a:solidFill>
                  <a:srgbClr val="00FF00"/>
                </a:solidFill>
              </a:rPr>
              <a:t>Characteristics</a:t>
            </a:r>
            <a:r>
              <a:rPr lang="en">
                <a:solidFill>
                  <a:srgbClr val="00FF00"/>
                </a:solidFill>
              </a:rPr>
              <a:t> Chart</a:t>
            </a:r>
            <a:endParaRPr>
              <a:solidFill>
                <a:srgbClr val="00FF00"/>
              </a:solidFill>
            </a:endParaRPr>
          </a:p>
        </p:txBody>
      </p:sp>
      <p:pic>
        <p:nvPicPr>
          <p:cNvPr id="199" name="Google Shape;199;p31"/>
          <p:cNvPicPr preferRelativeResize="0"/>
          <p:nvPr/>
        </p:nvPicPr>
        <p:blipFill rotWithShape="1">
          <a:blip r:embed="rId3">
            <a:alphaModFix/>
          </a:blip>
          <a:srcRect b="0" l="3393" r="3393" t="0"/>
          <a:stretch/>
        </p:blipFill>
        <p:spPr>
          <a:xfrm>
            <a:off x="1964725" y="1017725"/>
            <a:ext cx="5214551" cy="35672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Physical </a:t>
            </a:r>
            <a:r>
              <a:rPr lang="en">
                <a:solidFill>
                  <a:srgbClr val="00FF00"/>
                </a:solidFill>
              </a:rPr>
              <a:t>Comparison Chart</a:t>
            </a:r>
            <a:endParaRPr>
              <a:solidFill>
                <a:srgbClr val="00FF00"/>
              </a:solidFill>
            </a:endParaRPr>
          </a:p>
        </p:txBody>
      </p:sp>
      <p:pic>
        <p:nvPicPr>
          <p:cNvPr id="205" name="Google Shape;205;p32"/>
          <p:cNvPicPr preferRelativeResize="0"/>
          <p:nvPr/>
        </p:nvPicPr>
        <p:blipFill rotWithShape="1">
          <a:blip r:embed="rId3">
            <a:alphaModFix/>
          </a:blip>
          <a:srcRect b="19277" l="17627" r="40344" t="39042"/>
          <a:stretch/>
        </p:blipFill>
        <p:spPr>
          <a:xfrm>
            <a:off x="1497545" y="1017725"/>
            <a:ext cx="6006380" cy="3722774"/>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My rocket </a:t>
            </a:r>
            <a:r>
              <a:rPr lang="en">
                <a:solidFill>
                  <a:srgbClr val="00FF00"/>
                </a:solidFill>
              </a:rPr>
              <a:t>statistics</a:t>
            </a:r>
            <a:endParaRPr>
              <a:solidFill>
                <a:srgbClr val="00FF00"/>
              </a:solidFill>
            </a:endParaRPr>
          </a:p>
        </p:txBody>
      </p:sp>
      <p:sp>
        <p:nvSpPr>
          <p:cNvPr id="211" name="Google Shape;211;p33"/>
          <p:cNvSpPr txBox="1"/>
          <p:nvPr>
            <p:ph idx="1" type="body"/>
          </p:nvPr>
        </p:nvSpPr>
        <p:spPr>
          <a:xfrm>
            <a:off x="311700" y="1152475"/>
            <a:ext cx="3340800" cy="375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00FF00"/>
                </a:solidFill>
              </a:rPr>
              <a:t>Nose cone mass: 8.36 grams</a:t>
            </a:r>
            <a:endParaRPr>
              <a:solidFill>
                <a:srgbClr val="00FF00"/>
              </a:solidFill>
            </a:endParaRPr>
          </a:p>
          <a:p>
            <a:pPr indent="0" lvl="0" marL="0" rtl="0" algn="l">
              <a:spcBef>
                <a:spcPts val="1200"/>
              </a:spcBef>
              <a:spcAft>
                <a:spcPts val="0"/>
              </a:spcAft>
              <a:buNone/>
            </a:pPr>
            <a:r>
              <a:rPr lang="en">
                <a:solidFill>
                  <a:srgbClr val="00FF00"/>
                </a:solidFill>
              </a:rPr>
              <a:t>Body Mass: 39.26 grams</a:t>
            </a:r>
            <a:endParaRPr>
              <a:solidFill>
                <a:srgbClr val="00FF00"/>
              </a:solidFill>
            </a:endParaRPr>
          </a:p>
          <a:p>
            <a:pPr indent="0" lvl="0" marL="0" rtl="0" algn="l">
              <a:spcBef>
                <a:spcPts val="1200"/>
              </a:spcBef>
              <a:spcAft>
                <a:spcPts val="0"/>
              </a:spcAft>
              <a:buNone/>
            </a:pPr>
            <a:r>
              <a:rPr lang="en">
                <a:solidFill>
                  <a:srgbClr val="00FF00"/>
                </a:solidFill>
              </a:rPr>
              <a:t>Fin mass:16.38 grams</a:t>
            </a:r>
            <a:endParaRPr>
              <a:solidFill>
                <a:srgbClr val="00FF00"/>
              </a:solidFill>
            </a:endParaRPr>
          </a:p>
          <a:p>
            <a:pPr indent="0" lvl="0" marL="0" rtl="0" algn="l">
              <a:spcBef>
                <a:spcPts val="1200"/>
              </a:spcBef>
              <a:spcAft>
                <a:spcPts val="0"/>
              </a:spcAft>
              <a:buNone/>
            </a:pPr>
            <a:r>
              <a:rPr lang="en">
                <a:solidFill>
                  <a:srgbClr val="00FF00"/>
                </a:solidFill>
              </a:rPr>
              <a:t>Total Mass: 64 grams</a:t>
            </a:r>
            <a:endParaRPr>
              <a:solidFill>
                <a:srgbClr val="00FF00"/>
              </a:solidFill>
            </a:endParaRPr>
          </a:p>
          <a:p>
            <a:pPr indent="0" lvl="0" marL="0" rtl="0" algn="l">
              <a:spcBef>
                <a:spcPts val="1200"/>
              </a:spcBef>
              <a:spcAft>
                <a:spcPts val="0"/>
              </a:spcAft>
              <a:buNone/>
            </a:pPr>
            <a:r>
              <a:rPr lang="en">
                <a:solidFill>
                  <a:srgbClr val="00FF00"/>
                </a:solidFill>
              </a:rPr>
              <a:t># of fins: 3</a:t>
            </a:r>
            <a:endParaRPr>
              <a:solidFill>
                <a:srgbClr val="00FF00"/>
              </a:solidFill>
            </a:endParaRPr>
          </a:p>
          <a:p>
            <a:pPr indent="0" lvl="0" marL="0" rtl="0" algn="l">
              <a:spcBef>
                <a:spcPts val="1200"/>
              </a:spcBef>
              <a:spcAft>
                <a:spcPts val="0"/>
              </a:spcAft>
              <a:buNone/>
            </a:pPr>
            <a:r>
              <a:rPr lang="en">
                <a:solidFill>
                  <a:srgbClr val="00FF00"/>
                </a:solidFill>
              </a:rPr>
              <a:t>Descent: Nose Down</a:t>
            </a:r>
            <a:endParaRPr>
              <a:solidFill>
                <a:srgbClr val="00FF00"/>
              </a:solidFill>
            </a:endParaRPr>
          </a:p>
          <a:p>
            <a:pPr indent="0" lvl="0" marL="0" rtl="0" algn="l">
              <a:spcBef>
                <a:spcPts val="1200"/>
              </a:spcBef>
              <a:spcAft>
                <a:spcPts val="0"/>
              </a:spcAft>
              <a:buNone/>
            </a:pPr>
            <a:r>
              <a:rPr lang="en">
                <a:solidFill>
                  <a:srgbClr val="00FF00"/>
                </a:solidFill>
              </a:rPr>
              <a:t>Optimal Psi: 60</a:t>
            </a:r>
            <a:endParaRPr>
              <a:solidFill>
                <a:srgbClr val="00FF00"/>
              </a:solidFill>
            </a:endParaRPr>
          </a:p>
          <a:p>
            <a:pPr indent="0" lvl="0" marL="0" rtl="0" algn="l">
              <a:spcBef>
                <a:spcPts val="1200"/>
              </a:spcBef>
              <a:spcAft>
                <a:spcPts val="1200"/>
              </a:spcAft>
              <a:buNone/>
            </a:pPr>
            <a:r>
              <a:t/>
            </a:r>
            <a:endParaRPr/>
          </a:p>
        </p:txBody>
      </p:sp>
      <p:sp>
        <p:nvSpPr>
          <p:cNvPr id="212" name="Google Shape;212;p33"/>
          <p:cNvSpPr txBox="1"/>
          <p:nvPr/>
        </p:nvSpPr>
        <p:spPr>
          <a:xfrm>
            <a:off x="3987750" y="1296900"/>
            <a:ext cx="3034800" cy="32466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lang="en" sz="1800">
                <a:solidFill>
                  <a:srgbClr val="00FF00"/>
                </a:solidFill>
              </a:rPr>
              <a:t>60 psi Apex Time: 3.7 s</a:t>
            </a:r>
            <a:endParaRPr sz="1800">
              <a:solidFill>
                <a:srgbClr val="00FF00"/>
              </a:solidFill>
            </a:endParaRPr>
          </a:p>
          <a:p>
            <a:pPr indent="0" lvl="0" marL="0" rtl="0" algn="l">
              <a:lnSpc>
                <a:spcPct val="200000"/>
              </a:lnSpc>
              <a:spcBef>
                <a:spcPts val="0"/>
              </a:spcBef>
              <a:spcAft>
                <a:spcPts val="0"/>
              </a:spcAft>
              <a:buNone/>
            </a:pPr>
            <a:r>
              <a:rPr lang="en" sz="1800">
                <a:solidFill>
                  <a:srgbClr val="00FF00"/>
                </a:solidFill>
              </a:rPr>
              <a:t>60 psi total time: 7.25 s</a:t>
            </a:r>
            <a:endParaRPr sz="1800">
              <a:solidFill>
                <a:srgbClr val="00FF00"/>
              </a:solidFill>
            </a:endParaRPr>
          </a:p>
          <a:p>
            <a:pPr indent="0" lvl="0" marL="0" rtl="0" algn="l">
              <a:lnSpc>
                <a:spcPct val="200000"/>
              </a:lnSpc>
              <a:spcBef>
                <a:spcPts val="0"/>
              </a:spcBef>
              <a:spcAft>
                <a:spcPts val="0"/>
              </a:spcAft>
              <a:buNone/>
            </a:pPr>
            <a:r>
              <a:rPr lang="en" sz="1800">
                <a:solidFill>
                  <a:srgbClr val="00FF00"/>
                </a:solidFill>
              </a:rPr>
              <a:t>70 psi apex time: 3.6 s</a:t>
            </a:r>
            <a:endParaRPr sz="1800">
              <a:solidFill>
                <a:srgbClr val="00FF00"/>
              </a:solidFill>
            </a:endParaRPr>
          </a:p>
          <a:p>
            <a:pPr indent="0" lvl="0" marL="0" rtl="0" algn="l">
              <a:lnSpc>
                <a:spcPct val="200000"/>
              </a:lnSpc>
              <a:spcBef>
                <a:spcPts val="0"/>
              </a:spcBef>
              <a:spcAft>
                <a:spcPts val="0"/>
              </a:spcAft>
              <a:buNone/>
            </a:pPr>
            <a:r>
              <a:rPr lang="en" sz="1800">
                <a:solidFill>
                  <a:srgbClr val="00FF00"/>
                </a:solidFill>
              </a:rPr>
              <a:t>70 psi total time: 7.1 s</a:t>
            </a:r>
            <a:endParaRPr sz="1800">
              <a:solidFill>
                <a:srgbClr val="00FF00"/>
              </a:solidFill>
            </a:endParaRPr>
          </a:p>
          <a:p>
            <a:pPr indent="0" lvl="0" marL="0" rtl="0" algn="l">
              <a:lnSpc>
                <a:spcPct val="200000"/>
              </a:lnSpc>
              <a:spcBef>
                <a:spcPts val="0"/>
              </a:spcBef>
              <a:spcAft>
                <a:spcPts val="0"/>
              </a:spcAft>
              <a:buNone/>
            </a:pPr>
            <a:r>
              <a:rPr lang="en" sz="1800">
                <a:solidFill>
                  <a:srgbClr val="00FF00"/>
                </a:solidFill>
              </a:rPr>
              <a:t>80 psi apex time: 3.3 s</a:t>
            </a:r>
            <a:endParaRPr sz="1800">
              <a:solidFill>
                <a:srgbClr val="00FF00"/>
              </a:solidFill>
            </a:endParaRPr>
          </a:p>
          <a:p>
            <a:pPr indent="0" lvl="0" marL="0" rtl="0" algn="l">
              <a:lnSpc>
                <a:spcPct val="200000"/>
              </a:lnSpc>
              <a:spcBef>
                <a:spcPts val="0"/>
              </a:spcBef>
              <a:spcAft>
                <a:spcPts val="0"/>
              </a:spcAft>
              <a:buNone/>
            </a:pPr>
            <a:r>
              <a:rPr lang="en" sz="1800">
                <a:solidFill>
                  <a:srgbClr val="00FF00"/>
                </a:solidFill>
              </a:rPr>
              <a:t>80 psi total time: 7.3 s</a:t>
            </a:r>
            <a:endParaRPr sz="1800">
              <a:solidFill>
                <a:srgbClr val="00FF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Visual</a:t>
            </a:r>
            <a:r>
              <a:rPr lang="en">
                <a:solidFill>
                  <a:srgbClr val="00FF00"/>
                </a:solidFill>
              </a:rPr>
              <a:t> Rocket Statistics</a:t>
            </a:r>
            <a:endParaRPr>
              <a:solidFill>
                <a:srgbClr val="00FF00"/>
              </a:solidFill>
            </a:endParaRPr>
          </a:p>
        </p:txBody>
      </p:sp>
      <p:pic>
        <p:nvPicPr>
          <p:cNvPr id="218" name="Google Shape;218;p34"/>
          <p:cNvPicPr preferRelativeResize="0"/>
          <p:nvPr/>
        </p:nvPicPr>
        <p:blipFill>
          <a:blip r:embed="rId3">
            <a:alphaModFix/>
          </a:blip>
          <a:stretch>
            <a:fillRect/>
          </a:stretch>
        </p:blipFill>
        <p:spPr>
          <a:xfrm>
            <a:off x="1206238" y="1017725"/>
            <a:ext cx="6731528" cy="41257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rgbClr val="00FF00"/>
                </a:solidFill>
              </a:rPr>
              <a:t>Why it </a:t>
            </a:r>
            <a:r>
              <a:rPr lang="en">
                <a:solidFill>
                  <a:srgbClr val="00FF00"/>
                </a:solidFill>
              </a:rPr>
              <a:t>probably</a:t>
            </a:r>
            <a:r>
              <a:rPr lang="en">
                <a:solidFill>
                  <a:srgbClr val="00FF00"/>
                </a:solidFill>
              </a:rPr>
              <a:t> happened?</a:t>
            </a:r>
            <a:endParaRPr>
              <a:solidFill>
                <a:srgbClr val="00FF00"/>
              </a:solidFill>
            </a:endParaRPr>
          </a:p>
        </p:txBody>
      </p:sp>
      <p:sp>
        <p:nvSpPr>
          <p:cNvPr id="224" name="Google Shape;22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solidFill>
                  <a:srgbClr val="00FF00"/>
                </a:solidFill>
              </a:rPr>
              <a:t>I think the time to apex, and apparent height, decreased </a:t>
            </a:r>
            <a:r>
              <a:rPr lang="en">
                <a:solidFill>
                  <a:srgbClr val="00FF00"/>
                </a:solidFill>
              </a:rPr>
              <a:t>partially when I increased the pressure from 60 psi to 70 psi</a:t>
            </a:r>
            <a:r>
              <a:rPr lang="en">
                <a:solidFill>
                  <a:srgbClr val="00FF00"/>
                </a:solidFill>
              </a:rPr>
              <a:t> because I had to add more weight in the form of tape after my </a:t>
            </a:r>
            <a:r>
              <a:rPr lang="en">
                <a:solidFill>
                  <a:srgbClr val="00FF00"/>
                </a:solidFill>
              </a:rPr>
              <a:t>disastrous</a:t>
            </a:r>
            <a:r>
              <a:rPr lang="en">
                <a:solidFill>
                  <a:srgbClr val="00FF00"/>
                </a:solidFill>
              </a:rPr>
              <a:t> first attempt at 70 psi, making it not go as high. In addition to that, my rocket got more and more dinged up with each launch, and therefore less </a:t>
            </a:r>
            <a:r>
              <a:rPr lang="en">
                <a:solidFill>
                  <a:srgbClr val="00FF00"/>
                </a:solidFill>
              </a:rPr>
              <a:t>efficient</a:t>
            </a:r>
            <a:r>
              <a:rPr lang="en">
                <a:solidFill>
                  <a:srgbClr val="00FF00"/>
                </a:solidFill>
              </a:rPr>
              <a:t>. </a:t>
            </a:r>
            <a:endParaRPr>
              <a:solidFill>
                <a:srgbClr val="00FF00"/>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6"/>
          <p:cNvSpPr txBox="1"/>
          <p:nvPr>
            <p:ph type="title"/>
          </p:nvPr>
        </p:nvSpPr>
        <p:spPr>
          <a:xfrm>
            <a:off x="311700" y="2571750"/>
            <a:ext cx="85206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SzPts val="990"/>
              <a:buNone/>
            </a:pPr>
            <a:r>
              <a:rPr lang="en" sz="4120">
                <a:solidFill>
                  <a:srgbClr val="00FF00"/>
                </a:solidFill>
              </a:rPr>
              <a:t>The End</a:t>
            </a:r>
            <a:endParaRPr sz="4120">
              <a:solidFill>
                <a:srgbClr val="00FF00"/>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